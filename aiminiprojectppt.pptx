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3" r:id="rId5"/>
    <p:sldId id="258" r:id="rId6"/>
    <p:sldId id="260" r:id="rId7"/>
    <p:sldId id="264" r:id="rId8"/>
    <p:sldId id="261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B73585-903C-4177-AD2D-DFA4C2877EC1}" v="62" dt="2025-10-20T17:43:22.7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Harini" userId="f9280a8dc068fb33" providerId="LiveId" clId="{C49C1DDF-4A1C-46A9-AF51-0E685ABBB218}"/>
    <pc:docChg chg="undo redo custSel addSld delSld modSld">
      <pc:chgData name="K Harini" userId="f9280a8dc068fb33" providerId="LiveId" clId="{C49C1DDF-4A1C-46A9-AF51-0E685ABBB218}" dt="2025-10-20T17:58:46.120" v="554" actId="20577"/>
      <pc:docMkLst>
        <pc:docMk/>
      </pc:docMkLst>
      <pc:sldChg chg="modSp mod">
        <pc:chgData name="K Harini" userId="f9280a8dc068fb33" providerId="LiveId" clId="{C49C1DDF-4A1C-46A9-AF51-0E685ABBB218}" dt="2025-10-20T17:58:46.120" v="554" actId="20577"/>
        <pc:sldMkLst>
          <pc:docMk/>
          <pc:sldMk cId="2720793846" sldId="256"/>
        </pc:sldMkLst>
        <pc:spChg chg="mod">
          <ac:chgData name="K Harini" userId="f9280a8dc068fb33" providerId="LiveId" clId="{C49C1DDF-4A1C-46A9-AF51-0E685ABBB218}" dt="2025-10-20T17:58:46.120" v="554" actId="20577"/>
          <ac:spMkLst>
            <pc:docMk/>
            <pc:sldMk cId="2720793846" sldId="256"/>
            <ac:spMk id="7" creationId="{5BEE647A-5606-A6E5-93DB-A43A8FC2D88A}"/>
          </ac:spMkLst>
        </pc:spChg>
        <pc:graphicFrameChg chg="modGraphic">
          <ac:chgData name="K Harini" userId="f9280a8dc068fb33" providerId="LiveId" clId="{C49C1DDF-4A1C-46A9-AF51-0E685ABBB218}" dt="2025-10-20T09:49:42.352" v="23" actId="20577"/>
          <ac:graphicFrameMkLst>
            <pc:docMk/>
            <pc:sldMk cId="2720793846" sldId="256"/>
            <ac:graphicFrameMk id="11" creationId="{B39E0012-B3AF-E718-6BBA-5D37629E4005}"/>
          </ac:graphicFrameMkLst>
        </pc:graphicFrameChg>
      </pc:sldChg>
      <pc:sldChg chg="modSp mod">
        <pc:chgData name="K Harini" userId="f9280a8dc068fb33" providerId="LiveId" clId="{C49C1DDF-4A1C-46A9-AF51-0E685ABBB218}" dt="2025-10-20T10:01:59.598" v="61" actId="27636"/>
        <pc:sldMkLst>
          <pc:docMk/>
          <pc:sldMk cId="1816614792" sldId="257"/>
        </pc:sldMkLst>
        <pc:spChg chg="mod">
          <ac:chgData name="K Harini" userId="f9280a8dc068fb33" providerId="LiveId" clId="{C49C1DDF-4A1C-46A9-AF51-0E685ABBB218}" dt="2025-10-20T10:01:59.598" v="61" actId="27636"/>
          <ac:spMkLst>
            <pc:docMk/>
            <pc:sldMk cId="1816614792" sldId="257"/>
            <ac:spMk id="3" creationId="{FAE17474-C476-1051-3F37-A2159E2BEE57}"/>
          </ac:spMkLst>
        </pc:spChg>
      </pc:sldChg>
      <pc:sldChg chg="modSp">
        <pc:chgData name="K Harini" userId="f9280a8dc068fb33" providerId="LiveId" clId="{C49C1DDF-4A1C-46A9-AF51-0E685ABBB218}" dt="2025-10-20T17:43:22.725" v="497"/>
        <pc:sldMkLst>
          <pc:docMk/>
          <pc:sldMk cId="519586359" sldId="258"/>
        </pc:sldMkLst>
        <pc:graphicFrameChg chg="mod">
          <ac:chgData name="K Harini" userId="f9280a8dc068fb33" providerId="LiveId" clId="{C49C1DDF-4A1C-46A9-AF51-0E685ABBB218}" dt="2025-10-20T17:43:22.725" v="497"/>
          <ac:graphicFrameMkLst>
            <pc:docMk/>
            <pc:sldMk cId="519586359" sldId="258"/>
            <ac:graphicFrameMk id="7" creationId="{ACE64048-76D1-E559-97A6-1E9DA8CC9F64}"/>
          </ac:graphicFrameMkLst>
        </pc:graphicFrameChg>
      </pc:sldChg>
      <pc:sldChg chg="modSp mod">
        <pc:chgData name="K Harini" userId="f9280a8dc068fb33" providerId="LiveId" clId="{C49C1DDF-4A1C-46A9-AF51-0E685ABBB218}" dt="2025-10-20T10:06:03.473" v="147" actId="27636"/>
        <pc:sldMkLst>
          <pc:docMk/>
          <pc:sldMk cId="2832692384" sldId="259"/>
        </pc:sldMkLst>
        <pc:spChg chg="mod">
          <ac:chgData name="K Harini" userId="f9280a8dc068fb33" providerId="LiveId" clId="{C49C1DDF-4A1C-46A9-AF51-0E685ABBB218}" dt="2025-10-20T10:06:03.473" v="147" actId="27636"/>
          <ac:spMkLst>
            <pc:docMk/>
            <pc:sldMk cId="2832692384" sldId="259"/>
            <ac:spMk id="3" creationId="{FE67243E-1300-82BE-9968-6837E801AFFC}"/>
          </ac:spMkLst>
        </pc:spChg>
      </pc:sldChg>
      <pc:sldChg chg="addSp modSp mod">
        <pc:chgData name="K Harini" userId="f9280a8dc068fb33" providerId="LiveId" clId="{C49C1DDF-4A1C-46A9-AF51-0E685ABBB218}" dt="2025-10-20T17:04:35.345" v="294" actId="14100"/>
        <pc:sldMkLst>
          <pc:docMk/>
          <pc:sldMk cId="2805269521" sldId="260"/>
        </pc:sldMkLst>
        <pc:spChg chg="mod">
          <ac:chgData name="K Harini" userId="f9280a8dc068fb33" providerId="LiveId" clId="{C49C1DDF-4A1C-46A9-AF51-0E685ABBB218}" dt="2025-10-20T17:04:30.870" v="293" actId="255"/>
          <ac:spMkLst>
            <pc:docMk/>
            <pc:sldMk cId="2805269521" sldId="260"/>
            <ac:spMk id="3" creationId="{CB511744-1841-7314-5231-7CC4C07DDED0}"/>
          </ac:spMkLst>
        </pc:spChg>
        <pc:picChg chg="add mod">
          <ac:chgData name="K Harini" userId="f9280a8dc068fb33" providerId="LiveId" clId="{C49C1DDF-4A1C-46A9-AF51-0E685ABBB218}" dt="2025-10-20T17:04:35.345" v="294" actId="14100"/>
          <ac:picMkLst>
            <pc:docMk/>
            <pc:sldMk cId="2805269521" sldId="260"/>
            <ac:picMk id="6" creationId="{4AA2EF04-B0E4-2818-5427-D20074347017}"/>
          </ac:picMkLst>
        </pc:picChg>
      </pc:sldChg>
      <pc:sldChg chg="addSp modSp mod">
        <pc:chgData name="K Harini" userId="f9280a8dc068fb33" providerId="LiveId" clId="{C49C1DDF-4A1C-46A9-AF51-0E685ABBB218}" dt="2025-10-20T17:12:31.736" v="433" actId="20577"/>
        <pc:sldMkLst>
          <pc:docMk/>
          <pc:sldMk cId="1263363521" sldId="261"/>
        </pc:sldMkLst>
        <pc:spChg chg="mod">
          <ac:chgData name="K Harini" userId="f9280a8dc068fb33" providerId="LiveId" clId="{C49C1DDF-4A1C-46A9-AF51-0E685ABBB218}" dt="2025-10-20T17:12:31.736" v="433" actId="20577"/>
          <ac:spMkLst>
            <pc:docMk/>
            <pc:sldMk cId="1263363521" sldId="261"/>
            <ac:spMk id="3" creationId="{4B9409AF-1BD6-CFDC-B172-AD3D38536AC2}"/>
          </ac:spMkLst>
        </pc:spChg>
        <pc:picChg chg="add mod">
          <ac:chgData name="K Harini" userId="f9280a8dc068fb33" providerId="LiveId" clId="{C49C1DDF-4A1C-46A9-AF51-0E685ABBB218}" dt="2025-10-20T17:01:40.514" v="251"/>
          <ac:picMkLst>
            <pc:docMk/>
            <pc:sldMk cId="1263363521" sldId="261"/>
            <ac:picMk id="6" creationId="{2A96A6C4-7857-7EFA-5CA3-4EB927052267}"/>
          </ac:picMkLst>
        </pc:picChg>
      </pc:sldChg>
      <pc:sldChg chg="modSp mod">
        <pc:chgData name="K Harini" userId="f9280a8dc068fb33" providerId="LiveId" clId="{C49C1DDF-4A1C-46A9-AF51-0E685ABBB218}" dt="2025-10-20T17:19:49.071" v="494" actId="5793"/>
        <pc:sldMkLst>
          <pc:docMk/>
          <pc:sldMk cId="752607158" sldId="262"/>
        </pc:sldMkLst>
        <pc:spChg chg="mod">
          <ac:chgData name="K Harini" userId="f9280a8dc068fb33" providerId="LiveId" clId="{C49C1DDF-4A1C-46A9-AF51-0E685ABBB218}" dt="2025-10-20T17:19:49.071" v="494" actId="5793"/>
          <ac:spMkLst>
            <pc:docMk/>
            <pc:sldMk cId="752607158" sldId="262"/>
            <ac:spMk id="3" creationId="{D3AB1971-AF7F-80EE-26ED-EA8A7E8C7C21}"/>
          </ac:spMkLst>
        </pc:spChg>
      </pc:sldChg>
      <pc:sldChg chg="modSp add mod">
        <pc:chgData name="K Harini" userId="f9280a8dc068fb33" providerId="LiveId" clId="{C49C1DDF-4A1C-46A9-AF51-0E685ABBB218}" dt="2025-10-20T17:14:46.519" v="458" actId="113"/>
        <pc:sldMkLst>
          <pc:docMk/>
          <pc:sldMk cId="1837271227" sldId="263"/>
        </pc:sldMkLst>
        <pc:spChg chg="mod">
          <ac:chgData name="K Harini" userId="f9280a8dc068fb33" providerId="LiveId" clId="{C49C1DDF-4A1C-46A9-AF51-0E685ABBB218}" dt="2025-10-20T17:14:46.519" v="458" actId="113"/>
          <ac:spMkLst>
            <pc:docMk/>
            <pc:sldMk cId="1837271227" sldId="263"/>
            <ac:spMk id="3" creationId="{D43F1624-D8B0-39D8-1C6F-BCD4B3C0201E}"/>
          </ac:spMkLst>
        </pc:spChg>
      </pc:sldChg>
      <pc:sldChg chg="addSp delSp modSp add mod setBg">
        <pc:chgData name="K Harini" userId="f9280a8dc068fb33" providerId="LiveId" clId="{C49C1DDF-4A1C-46A9-AF51-0E685ABBB218}" dt="2025-10-20T17:11:44.652" v="393" actId="14100"/>
        <pc:sldMkLst>
          <pc:docMk/>
          <pc:sldMk cId="3068120339" sldId="264"/>
        </pc:sldMkLst>
        <pc:spChg chg="mod">
          <ac:chgData name="K Harini" userId="f9280a8dc068fb33" providerId="LiveId" clId="{C49C1DDF-4A1C-46A9-AF51-0E685ABBB218}" dt="2025-10-20T17:10:25.763" v="366" actId="26606"/>
          <ac:spMkLst>
            <pc:docMk/>
            <pc:sldMk cId="3068120339" sldId="264"/>
            <ac:spMk id="2" creationId="{D3D4E80F-0097-E9C3-7382-360052E7B917}"/>
          </ac:spMkLst>
        </pc:spChg>
        <pc:spChg chg="mod">
          <ac:chgData name="K Harini" userId="f9280a8dc068fb33" providerId="LiveId" clId="{C49C1DDF-4A1C-46A9-AF51-0E685ABBB218}" dt="2025-10-20T17:11:26.565" v="391" actId="20577"/>
          <ac:spMkLst>
            <pc:docMk/>
            <pc:sldMk cId="3068120339" sldId="264"/>
            <ac:spMk id="3" creationId="{5481DD49-2B31-B5DE-1072-47D8565B3949}"/>
          </ac:spMkLst>
        </pc:spChg>
        <pc:spChg chg="mod">
          <ac:chgData name="K Harini" userId="f9280a8dc068fb33" providerId="LiveId" clId="{C49C1DDF-4A1C-46A9-AF51-0E685ABBB218}" dt="2025-10-20T17:10:25.763" v="366" actId="26606"/>
          <ac:spMkLst>
            <pc:docMk/>
            <pc:sldMk cId="3068120339" sldId="264"/>
            <ac:spMk id="4" creationId="{0968410B-BCDE-C84E-52FF-8E1CC22612F4}"/>
          </ac:spMkLst>
        </pc:spChg>
        <pc:spChg chg="mod">
          <ac:chgData name="K Harini" userId="f9280a8dc068fb33" providerId="LiveId" clId="{C49C1DDF-4A1C-46A9-AF51-0E685ABBB218}" dt="2025-10-20T17:10:25.763" v="366" actId="26606"/>
          <ac:spMkLst>
            <pc:docMk/>
            <pc:sldMk cId="3068120339" sldId="264"/>
            <ac:spMk id="5" creationId="{BDCE6E0F-A9EE-2542-7F8C-4E2ECB888AAA}"/>
          </ac:spMkLst>
        </pc:spChg>
        <pc:spChg chg="add del">
          <ac:chgData name="K Harini" userId="f9280a8dc068fb33" providerId="LiveId" clId="{C49C1DDF-4A1C-46A9-AF51-0E685ABBB218}" dt="2025-10-20T17:10:25.763" v="366" actId="26606"/>
          <ac:spMkLst>
            <pc:docMk/>
            <pc:sldMk cId="3068120339" sldId="264"/>
            <ac:spMk id="12" creationId="{45D37F4E-DDB4-456B-97E0-9937730A039F}"/>
          </ac:spMkLst>
        </pc:spChg>
        <pc:spChg chg="add del">
          <ac:chgData name="K Harini" userId="f9280a8dc068fb33" providerId="LiveId" clId="{C49C1DDF-4A1C-46A9-AF51-0E685ABBB218}" dt="2025-10-20T17:10:25.763" v="366" actId="26606"/>
          <ac:spMkLst>
            <pc:docMk/>
            <pc:sldMk cId="3068120339" sldId="264"/>
            <ac:spMk id="14" creationId="{B2DD41CD-8F47-4F56-AD12-4E2FF7696987}"/>
          </ac:spMkLst>
        </pc:spChg>
        <pc:picChg chg="del">
          <ac:chgData name="K Harini" userId="f9280a8dc068fb33" providerId="LiveId" clId="{C49C1DDF-4A1C-46A9-AF51-0E685ABBB218}" dt="2025-10-20T17:04:54.368" v="296" actId="478"/>
          <ac:picMkLst>
            <pc:docMk/>
            <pc:sldMk cId="3068120339" sldId="264"/>
            <ac:picMk id="6" creationId="{1DE9ED1E-BF65-503B-AD8B-E8939764157E}"/>
          </ac:picMkLst>
        </pc:picChg>
        <pc:picChg chg="add mod ord">
          <ac:chgData name="K Harini" userId="f9280a8dc068fb33" providerId="LiveId" clId="{C49C1DDF-4A1C-46A9-AF51-0E685ABBB218}" dt="2025-10-20T17:11:44.652" v="393" actId="14100"/>
          <ac:picMkLst>
            <pc:docMk/>
            <pc:sldMk cId="3068120339" sldId="264"/>
            <ac:picMk id="7" creationId="{81A820CC-E106-8711-5A13-C49211D16C0C}"/>
          </ac:picMkLst>
        </pc:picChg>
      </pc:sldChg>
      <pc:sldChg chg="modSp add mod">
        <pc:chgData name="K Harini" userId="f9280a8dc068fb33" providerId="LiveId" clId="{C49C1DDF-4A1C-46A9-AF51-0E685ABBB218}" dt="2025-10-20T17:13:18.360" v="446" actId="20577"/>
        <pc:sldMkLst>
          <pc:docMk/>
          <pc:sldMk cId="1164879705" sldId="265"/>
        </pc:sldMkLst>
        <pc:spChg chg="mod">
          <ac:chgData name="K Harini" userId="f9280a8dc068fb33" providerId="LiveId" clId="{C49C1DDF-4A1C-46A9-AF51-0E685ABBB218}" dt="2025-10-20T17:13:18.360" v="446" actId="20577"/>
          <ac:spMkLst>
            <pc:docMk/>
            <pc:sldMk cId="1164879705" sldId="265"/>
            <ac:spMk id="3" creationId="{E39BF234-03FB-99B7-1FAD-E73A077F6A4D}"/>
          </ac:spMkLst>
        </pc:spChg>
      </pc:sldChg>
      <pc:sldChg chg="modSp add del mod">
        <pc:chgData name="K Harini" userId="f9280a8dc068fb33" providerId="LiveId" clId="{C49C1DDF-4A1C-46A9-AF51-0E685ABBB218}" dt="2025-10-20T17:10:23.265" v="362" actId="2890"/>
        <pc:sldMkLst>
          <pc:docMk/>
          <pc:sldMk cId="3731712274" sldId="265"/>
        </pc:sldMkLst>
        <pc:spChg chg="mod">
          <ac:chgData name="K Harini" userId="f9280a8dc068fb33" providerId="LiveId" clId="{C49C1DDF-4A1C-46A9-AF51-0E685ABBB218}" dt="2025-10-20T17:10:21.770" v="356" actId="255"/>
          <ac:spMkLst>
            <pc:docMk/>
            <pc:sldMk cId="3731712274" sldId="265"/>
            <ac:spMk id="3" creationId="{DF0B9229-C0EF-24BE-0FA0-05F46AB51EA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artificial_intelligence/artificial_intelligence_a_star_algorithm.html" TargetMode="External"/><Relationship Id="rId7" Type="http://schemas.openxmlformats.org/officeDocument/2006/relationships/hyperlink" Target="https://docs.python.org/3/library/heapq.html" TargetMode="External"/><Relationship Id="rId2" Type="http://schemas.openxmlformats.org/officeDocument/2006/relationships/hyperlink" Target="https://aima.cs.berkeley.edu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tplotlib.org/stable/api/animation_api.html" TargetMode="External"/><Relationship Id="rId5" Type="http://schemas.openxmlformats.org/officeDocument/2006/relationships/hyperlink" Target="https://towardsdatascience.com/a-star-a-search-algorithm-eb495fb156bb" TargetMode="External"/><Relationship Id="rId4" Type="http://schemas.openxmlformats.org/officeDocument/2006/relationships/hyperlink" Target="https://www.geeksforgeeks.org/a-search-algorith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MAZE SOLVING USING A* ALGORITHM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455119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2117240030039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HARINI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10/20/2025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2000" b="1" dirty="0"/>
              <a:t>Artificial Intelligence (AI)</a:t>
            </a:r>
            <a:r>
              <a:rPr lang="en-US" sz="2000" dirty="0"/>
              <a:t> focuses on enabling machines to make intelligent decisions. One of the key applications of AI is </a:t>
            </a:r>
            <a:r>
              <a:rPr lang="en-US" sz="2000" b="1" dirty="0"/>
              <a:t>pathfinding</a:t>
            </a:r>
            <a:r>
              <a:rPr lang="en-US" sz="2000" dirty="0"/>
              <a:t>, which deals with finding an optimal route from a start point to a goal within a given environment.</a:t>
            </a:r>
          </a:p>
          <a:p>
            <a:pPr lvl="0"/>
            <a:r>
              <a:rPr lang="en-US" sz="2000" dirty="0"/>
              <a:t>In this project, a maze-solving problem is addressed using the </a:t>
            </a:r>
            <a:r>
              <a:rPr lang="en-US" sz="2000" b="1" dirty="0"/>
              <a:t>A*</a:t>
            </a:r>
            <a:r>
              <a:rPr lang="en-US" sz="2000" dirty="0"/>
              <a:t> (A-star) search algorithm, which combines the strengths of Dijkstra’s algorithm and heuristic search to efficiently find the shortest path.</a:t>
            </a:r>
          </a:p>
          <a:p>
            <a:pPr lvl="0"/>
            <a:r>
              <a:rPr lang="en-US" sz="2000" dirty="0"/>
              <a:t>The project demonstrates how AI can be used for decision-making and route optimization in constrained environments.</a:t>
            </a:r>
          </a:p>
          <a:p>
            <a:pPr lvl="0"/>
            <a:r>
              <a:rPr lang="en-US" sz="2000" dirty="0"/>
              <a:t>The task is to find the </a:t>
            </a:r>
            <a:r>
              <a:rPr lang="en-US" sz="2000" b="1" dirty="0"/>
              <a:t>shortest possible path</a:t>
            </a:r>
            <a:r>
              <a:rPr lang="en-US" sz="2000" dirty="0"/>
              <a:t> from a start cell to a goal cell within a maze containing obstacles. The maze can have multiple routes, and the algorithm must determine the most efficient one while avoiding walls.</a:t>
            </a:r>
          </a:p>
          <a:p>
            <a:pPr lvl="0"/>
            <a:r>
              <a:rPr lang="en-US" sz="2000" dirty="0"/>
              <a:t>The problem highlights the need for intelligent pathfinding that minimizes computational cost while guaranteeing an optimal result.</a:t>
            </a:r>
          </a:p>
          <a:p>
            <a:pPr lvl="0"/>
            <a:r>
              <a:rPr lang="en-US" sz="2000" dirty="0"/>
              <a:t>To design and implement an algorithm capable of </a:t>
            </a:r>
            <a:r>
              <a:rPr lang="en-US" sz="2000" b="1" dirty="0"/>
              <a:t>solving any given</a:t>
            </a:r>
            <a:r>
              <a:rPr lang="en-US" sz="2000" dirty="0"/>
              <a:t> </a:t>
            </a:r>
            <a:r>
              <a:rPr lang="en-US" sz="2000" b="1" dirty="0"/>
              <a:t>maze</a:t>
            </a:r>
            <a:r>
              <a:rPr lang="en-US" sz="2000" dirty="0"/>
              <a:t> by finding the shortest path between start and goal nodes.</a:t>
            </a:r>
          </a:p>
          <a:p>
            <a:pPr lvl="0"/>
            <a:r>
              <a:rPr lang="en-US" sz="2000" dirty="0"/>
              <a:t>To visualize the exploration and pathfinding process using Python.</a:t>
            </a:r>
          </a:p>
          <a:p>
            <a:r>
              <a:rPr lang="en-US" sz="2000" dirty="0"/>
              <a:t>To analyze the </a:t>
            </a:r>
            <a:r>
              <a:rPr lang="en-US" sz="2000" b="1" dirty="0"/>
              <a:t>efficiency</a:t>
            </a:r>
            <a:r>
              <a:rPr lang="en-US" sz="2000" dirty="0"/>
              <a:t> of A* compared to other classical search algorithms like BFS and Dijkstra.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67243E-1300-82BE-9968-6837E801AF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18148"/>
                <a:ext cx="10515600" cy="5358816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sz="2000" dirty="0"/>
                  <a:t>Maze solving is a </a:t>
                </a:r>
                <a:r>
                  <a:rPr lang="en-US" sz="2000" b="1" dirty="0"/>
                  <a:t>search problem</a:t>
                </a:r>
                <a:r>
                  <a:rPr lang="en-US" sz="2000" dirty="0"/>
                  <a:t> where each cell is treated as a </a:t>
                </a:r>
                <a:r>
                  <a:rPr lang="en-US" sz="2000" b="1" dirty="0"/>
                  <a:t>state</a:t>
                </a:r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Common search algorithms include:</a:t>
                </a:r>
              </a:p>
              <a:p>
                <a:pPr lvl="2"/>
                <a:r>
                  <a:rPr lang="en-US" b="1" dirty="0"/>
                  <a:t>Depth-First Search (DFS)</a:t>
                </a:r>
                <a:r>
                  <a:rPr lang="en-US" dirty="0"/>
                  <a:t> – explores deep but not always optimal.</a:t>
                </a:r>
              </a:p>
              <a:p>
                <a:pPr lvl="2"/>
                <a:r>
                  <a:rPr lang="en-US" b="1" dirty="0"/>
                  <a:t>Breadth-First Search (BFS)</a:t>
                </a:r>
                <a:r>
                  <a:rPr lang="en-US" dirty="0"/>
                  <a:t> – guarantees shortest path but uses more memory.</a:t>
                </a:r>
              </a:p>
              <a:p>
                <a:pPr lvl="2"/>
                <a:r>
                  <a:rPr lang="en-US" b="1" dirty="0"/>
                  <a:t>Dijkstra’s Algorithm</a:t>
                </a:r>
                <a:r>
                  <a:rPr lang="en-US" dirty="0"/>
                  <a:t> – works for weighted graphs but is slower.</a:t>
                </a:r>
              </a:p>
              <a:p>
                <a:pPr lvl="2"/>
                <a:r>
                  <a:rPr lang="en-US" b="1" dirty="0"/>
                  <a:t>A*</a:t>
                </a:r>
                <a:r>
                  <a:rPr lang="en-US" dirty="0"/>
                  <a:t> Algorithm – combines path cost and heuristic guidance.</a:t>
                </a:r>
              </a:p>
              <a:p>
                <a:pPr lvl="1"/>
                <a:r>
                  <a:rPr lang="en-US" sz="2000" b="1" dirty="0"/>
                  <a:t>A*</a:t>
                </a:r>
                <a:r>
                  <a:rPr lang="en-US" sz="2000" dirty="0"/>
                  <a:t> uses the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2000" i="1" dirty="0"/>
                </a:br>
                <a:r>
                  <a:rPr lang="en-US" sz="2000" i="1" dirty="0"/>
                  <a:t>              </a:t>
                </a:r>
                <a:r>
                  <a:rPr lang="en-US" sz="2000" dirty="0"/>
                  <a:t> where:</a:t>
                </a:r>
              </a:p>
              <a:p>
                <a:pPr lvl="2"/>
                <a:r>
                  <a:rPr lang="en-US" dirty="0"/>
                  <a:t>g(n) = cost from start to current node.</a:t>
                </a:r>
              </a:p>
              <a:p>
                <a:pPr lvl="2"/>
                <a:r>
                  <a:rPr lang="en-US" dirty="0"/>
                  <a:t>h(n) = estimated cost (heuristic) to reach the goal.</a:t>
                </a:r>
              </a:p>
              <a:p>
                <a:pPr lvl="1"/>
                <a:r>
                  <a:rPr lang="en-US" sz="2000" b="1" dirty="0"/>
                  <a:t>Heuristic used:</a:t>
                </a:r>
                <a:r>
                  <a:rPr lang="en-US" sz="2000" dirty="0"/>
                  <a:t> Manhattan Distance — suitable for 2D grid mazes.</a:t>
                </a:r>
              </a:p>
              <a:p>
                <a:pPr lvl="1"/>
                <a:r>
                  <a:rPr lang="en-US" sz="2000" b="1" dirty="0"/>
                  <a:t>Justification:</a:t>
                </a:r>
                <a:r>
                  <a:rPr lang="en-US" sz="2000" dirty="0"/>
                  <a:t> A* is both </a:t>
                </a:r>
                <a:r>
                  <a:rPr lang="en-US" sz="2000" b="1" dirty="0"/>
                  <a:t>optimal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complete</a:t>
                </a:r>
                <a:r>
                  <a:rPr lang="en-US" sz="2000" dirty="0"/>
                  <a:t>, offering best performance among classical methods.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67243E-1300-82BE-9968-6837E801AF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18148"/>
                <a:ext cx="10515600" cy="535881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C435A-10F7-BFC5-00EC-58E40C44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2645-36EF-8091-6776-B59E845F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F1624-D8B0-39D8-1C6F-BCD4B3C020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18148"/>
                <a:ext cx="10515600" cy="5358816"/>
              </a:xfrm>
            </p:spPr>
            <p:txBody>
              <a:bodyPr>
                <a:normAutofit fontScale="85000" lnSpcReduction="20000"/>
              </a:bodyPr>
              <a:lstStyle/>
              <a:p>
                <a:pPr marL="457200" lvl="1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lang="en-US" sz="2400" b="1" dirty="0"/>
                  <a:t>ALGORITHM</a:t>
                </a:r>
              </a:p>
              <a:p>
                <a:pPr lvl="0"/>
                <a:r>
                  <a:rPr lang="en-US" sz="2400" dirty="0"/>
                  <a:t>Initialize </a:t>
                </a:r>
                <a:r>
                  <a:rPr lang="en-US" sz="2400" b="1" dirty="0"/>
                  <a:t>open list</a:t>
                </a:r>
                <a:r>
                  <a:rPr lang="en-US" sz="2400" dirty="0"/>
                  <a:t> (priority queue) and </a:t>
                </a:r>
                <a:r>
                  <a:rPr lang="en-US" sz="2400" b="1" dirty="0"/>
                  <a:t>closed list</a:t>
                </a:r>
                <a:r>
                  <a:rPr lang="en-US" sz="2400" dirty="0"/>
                  <a:t>.</a:t>
                </a:r>
              </a:p>
              <a:p>
                <a:pPr lvl="0"/>
                <a:r>
                  <a:rPr lang="en-US" sz="2400" dirty="0"/>
                  <a:t>Add the </a:t>
                </a:r>
                <a:r>
                  <a:rPr lang="en-US" sz="2400" b="1" dirty="0"/>
                  <a:t>start node</a:t>
                </a:r>
                <a:r>
                  <a:rPr lang="en-US" sz="2400" dirty="0"/>
                  <a:t> to the open list with f-score = 0.</a:t>
                </a:r>
              </a:p>
              <a:p>
                <a:pPr lvl="0"/>
                <a:r>
                  <a:rPr lang="en-US" sz="2400" dirty="0"/>
                  <a:t>Pick the node with the </a:t>
                </a:r>
                <a:r>
                  <a:rPr lang="en-US" sz="2400" b="1" dirty="0"/>
                  <a:t>lowest f(n)</a:t>
                </a:r>
                <a:r>
                  <a:rPr lang="en-US" sz="2400" dirty="0"/>
                  <a:t> from the open list.</a:t>
                </a:r>
              </a:p>
              <a:p>
                <a:pPr lvl="0"/>
                <a:r>
                  <a:rPr lang="en-US" sz="2400" dirty="0"/>
                  <a:t>Expand neighbors (Up, Down, Left, Right) — skip walls or invalid cells.</a:t>
                </a:r>
              </a:p>
              <a:p>
                <a:pPr lvl="0"/>
                <a:r>
                  <a:rPr lang="en-US" sz="2400" dirty="0"/>
                  <a:t>Calculate: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          for each neighbor.</a:t>
                </a:r>
              </a:p>
              <a:p>
                <a:pPr lvl="0"/>
                <a:r>
                  <a:rPr lang="en-US" sz="2400" dirty="0"/>
                  <a:t>Update if a </a:t>
                </a:r>
                <a:r>
                  <a:rPr lang="en-US" sz="2400" b="1" dirty="0"/>
                  <a:t>better path</a:t>
                </a:r>
                <a:r>
                  <a:rPr lang="en-US" sz="2400" dirty="0"/>
                  <a:t> is found.</a:t>
                </a:r>
              </a:p>
              <a:p>
                <a:pPr lvl="0"/>
                <a:r>
                  <a:rPr lang="en-US" sz="2400" dirty="0"/>
                  <a:t>Move current node to the </a:t>
                </a:r>
                <a:r>
                  <a:rPr lang="en-US" sz="2400" b="1" dirty="0"/>
                  <a:t>closed list</a:t>
                </a:r>
                <a:r>
                  <a:rPr lang="en-US" sz="2400" dirty="0"/>
                  <a:t>.</a:t>
                </a:r>
              </a:p>
              <a:p>
                <a:pPr lvl="0"/>
                <a:r>
                  <a:rPr lang="en-US" sz="2400" dirty="0"/>
                  <a:t>Continue until the </a:t>
                </a:r>
                <a:r>
                  <a:rPr lang="en-US" sz="2400" b="1" dirty="0"/>
                  <a:t>goal node</a:t>
                </a:r>
                <a:r>
                  <a:rPr lang="en-US" sz="2400" dirty="0"/>
                  <a:t> is reached.</a:t>
                </a:r>
              </a:p>
              <a:p>
                <a:pPr lvl="0"/>
                <a:r>
                  <a:rPr lang="en-US" sz="2400" b="1" dirty="0"/>
                  <a:t>Trace back</a:t>
                </a:r>
                <a:r>
                  <a:rPr lang="en-US" sz="2400" dirty="0"/>
                  <a:t> the path from goal to start.</a:t>
                </a:r>
              </a:p>
              <a:p>
                <a:r>
                  <a:rPr lang="en-US" sz="2400" b="1" dirty="0"/>
                  <a:t>   Example:</a:t>
                </a:r>
                <a:endParaRPr lang="en-US" sz="2400" dirty="0"/>
              </a:p>
              <a:p>
                <a:pPr lvl="0"/>
                <a:r>
                  <a:rPr lang="en-US" sz="2400" dirty="0"/>
                  <a:t>In a 5×5 maze, if start = (0,0) and goal = (4,4),</a:t>
                </a:r>
                <a:br>
                  <a:rPr lang="en-US" sz="2400" dirty="0"/>
                </a:br>
                <a:r>
                  <a:rPr lang="en-US" sz="2400" dirty="0"/>
                  <a:t>A* will explore nearby cells and find the shortest path while skipping walls.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F1624-D8B0-39D8-1C6F-BCD4B3C020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18148"/>
                <a:ext cx="10515600" cy="5358816"/>
              </a:xfrm>
              <a:blipFill>
                <a:blip r:embed="rId2"/>
                <a:stretch>
                  <a:fillRect l="-638" b="-2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90121-F38D-D79C-3D65-B6D35C0C1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E3686-D39B-BA2A-7691-6B642EA98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71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331529"/>
              </p:ext>
            </p:extLst>
          </p:nvPr>
        </p:nvGraphicFramePr>
        <p:xfrm>
          <a:off x="1854200" y="2205222"/>
          <a:ext cx="8128000" cy="2286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https://github.com/harinik1510/HariniK/blob/main/aiproject.py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https://github.com/harinik1510/HariniK/blob/main/AIMINIPROJECTWORD.docx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https://github.com/harinik1510/HariniK/blob/main/AIMINIPROJECTPPT.pptx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11744-1841-7314-5231-7CC4C07D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lvl="0"/>
            <a:r>
              <a:rPr lang="en-US" sz="2200" dirty="0"/>
              <a:t>The program begins generating random mazes.</a:t>
            </a:r>
          </a:p>
          <a:p>
            <a:pPr lvl="0"/>
            <a:r>
              <a:rPr lang="en-US" sz="2200" dirty="0"/>
              <a:t>The message </a:t>
            </a:r>
            <a:r>
              <a:rPr lang="en-US" sz="2200" b="1" dirty="0"/>
              <a:t>“✅ Solvable maze generated”</a:t>
            </a:r>
            <a:r>
              <a:rPr lang="en-US" sz="2200" dirty="0"/>
              <a:t> confirms a valid maze was created where a path exists from start to goal.</a:t>
            </a:r>
          </a:p>
          <a:p>
            <a:pPr lvl="0"/>
            <a:r>
              <a:rPr lang="en-US" sz="2200" dirty="0"/>
              <a:t>This ensures the upcoming visualization will successfully display a solvable maze.</a:t>
            </a:r>
          </a:p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AA2EF04-B0E4-2818-5427-D20074347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2" y="3309258"/>
            <a:ext cx="7772398" cy="149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E5AF-DA73-E1F9-355F-D1FD7D7B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4E80F-0097-E9C3-7382-360052E7B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1DD49-2B31-B5DE-1072-47D8565B3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lvl="0"/>
            <a:r>
              <a:rPr lang="en-US" sz="2200" dirty="0"/>
              <a:t>The maze grid is displayed using colors to represent different states:</a:t>
            </a:r>
          </a:p>
          <a:p>
            <a:pPr lvl="0"/>
            <a:r>
              <a:rPr lang="en-US" sz="2200" b="1" dirty="0"/>
              <a:t>Green</a:t>
            </a:r>
            <a:r>
              <a:rPr lang="en-US" sz="2200" dirty="0"/>
              <a:t> → Start cell</a:t>
            </a:r>
          </a:p>
          <a:p>
            <a:pPr lvl="0"/>
            <a:r>
              <a:rPr lang="en-US" sz="2200" b="1" dirty="0"/>
              <a:t>Red</a:t>
            </a:r>
            <a:r>
              <a:rPr lang="en-US" sz="2200" dirty="0"/>
              <a:t> → Goal cell</a:t>
            </a:r>
          </a:p>
          <a:p>
            <a:pPr lvl="0"/>
            <a:r>
              <a:rPr lang="en-US" sz="2200" b="1" dirty="0"/>
              <a:t>Black</a:t>
            </a:r>
            <a:r>
              <a:rPr lang="en-US" sz="2200" dirty="0"/>
              <a:t> → Walls or obstacles</a:t>
            </a:r>
          </a:p>
          <a:p>
            <a:pPr lvl="0"/>
            <a:r>
              <a:rPr lang="en-US" sz="2200" b="1" dirty="0"/>
              <a:t>White</a:t>
            </a:r>
            <a:r>
              <a:rPr lang="en-US" sz="2200" dirty="0"/>
              <a:t> → Open paths</a:t>
            </a:r>
          </a:p>
          <a:p>
            <a:pPr lvl="0"/>
            <a:r>
              <a:rPr lang="en-US" sz="2200" b="1" dirty="0"/>
              <a:t>Blue</a:t>
            </a:r>
            <a:r>
              <a:rPr lang="en-US" sz="2200" dirty="0"/>
              <a:t> → Explored cells during search</a:t>
            </a:r>
          </a:p>
          <a:p>
            <a:pPr lvl="0"/>
            <a:r>
              <a:rPr lang="en-US" sz="2200" b="1" dirty="0"/>
              <a:t>Yellow</a:t>
            </a:r>
            <a:r>
              <a:rPr lang="en-US" sz="2200" dirty="0"/>
              <a:t> → Final shortest path found by A*</a:t>
            </a:r>
          </a:p>
          <a:p>
            <a:pPr lvl="0"/>
            <a:r>
              <a:rPr lang="en-US" sz="2200" dirty="0"/>
              <a:t>The yellow path clearly shows the </a:t>
            </a:r>
            <a:r>
              <a:rPr lang="en-US" sz="2200" b="1" dirty="0"/>
              <a:t>optimal route</a:t>
            </a:r>
            <a:r>
              <a:rPr lang="en-US" sz="2200" dirty="0"/>
              <a:t> </a:t>
            </a:r>
          </a:p>
          <a:p>
            <a:pPr marL="0" lvl="0" indent="0">
              <a:buNone/>
            </a:pPr>
            <a:r>
              <a:rPr lang="en-US" sz="2200" dirty="0"/>
              <a:t>   from start to goal through open cells, avoiding obstacles.</a:t>
            </a:r>
          </a:p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8410B-BCDE-C84E-52FF-8E1CC226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E6E0F-A9EE-2542-7F8C-4E2ECB88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 descr="A colorful squares and a yellow line&#10;&#10;AI-generated content may be incorrect.">
            <a:extLst>
              <a:ext uri="{FF2B5EF4-FFF2-40B4-BE49-F238E27FC236}">
                <a16:creationId xmlns:a16="http://schemas.microsoft.com/office/drawing/2014/main" id="{81A820CC-E106-8711-5A13-C49211D16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143" y="1981200"/>
            <a:ext cx="4572000" cy="383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2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lvl="0"/>
            <a:endParaRPr lang="en-GB" sz="2000" b="1" dirty="0"/>
          </a:p>
          <a:p>
            <a:pPr lvl="0"/>
            <a:r>
              <a:rPr lang="en-GB" sz="2000" b="1" dirty="0"/>
              <a:t>Results</a:t>
            </a:r>
            <a:endParaRPr lang="en-US" sz="2000" dirty="0"/>
          </a:p>
          <a:p>
            <a:pPr lvl="1"/>
            <a:r>
              <a:rPr lang="en-US" sz="2000" dirty="0"/>
              <a:t>The A* algorithm successfully finds the </a:t>
            </a:r>
            <a:r>
              <a:rPr lang="en-US" sz="2000" b="1" dirty="0"/>
              <a:t>shortest path</a:t>
            </a:r>
            <a:r>
              <a:rPr lang="en-US" sz="2000" dirty="0"/>
              <a:t> between the start and goal in the generated maze.</a:t>
            </a:r>
          </a:p>
          <a:p>
            <a:pPr lvl="1"/>
            <a:r>
              <a:rPr lang="en-US" sz="2000" dirty="0"/>
              <a:t>The algorithm intelligently avoids walls and explores only the necessary paths.</a:t>
            </a:r>
          </a:p>
          <a:p>
            <a:pPr lvl="1"/>
            <a:r>
              <a:rPr lang="en-US" sz="2000" dirty="0"/>
              <a:t>The </a:t>
            </a:r>
            <a:r>
              <a:rPr lang="en-US" sz="2000" b="1" dirty="0"/>
              <a:t>visual output</a:t>
            </a:r>
            <a:r>
              <a:rPr lang="en-US" sz="2000" dirty="0"/>
              <a:t> clearly shows the exploration process (blue cells) and the final shortest path (yellow cells).</a:t>
            </a:r>
          </a:p>
          <a:p>
            <a:pPr lvl="1"/>
            <a:r>
              <a:rPr lang="en-US" sz="2000" dirty="0"/>
              <a:t>A* performs efficiently even in medium-sized mazes (10×10, 12×12 grids).</a:t>
            </a:r>
          </a:p>
          <a:p>
            <a:pPr lvl="1"/>
            <a:r>
              <a:rPr lang="en-US" sz="2000" dirty="0"/>
              <a:t>The </a:t>
            </a:r>
            <a:r>
              <a:rPr lang="en-US" sz="2000" b="1" dirty="0"/>
              <a:t>runtime is low</a:t>
            </a:r>
            <a:r>
              <a:rPr lang="en-US" sz="2000" dirty="0"/>
              <a:t> (under 0.2 seconds for smaller mazes).</a:t>
            </a:r>
          </a:p>
          <a:p>
            <a:pPr lvl="1"/>
            <a:r>
              <a:rPr lang="en-US" sz="2000" dirty="0"/>
              <a:t>The algorithm guarantees an </a:t>
            </a:r>
            <a:r>
              <a:rPr lang="en-US" sz="2000" b="1" dirty="0"/>
              <a:t>optimal solution</a:t>
            </a:r>
            <a:r>
              <a:rPr lang="en-US" sz="2000" dirty="0"/>
              <a:t> if the heuristic is admissible.</a:t>
            </a:r>
          </a:p>
          <a:p>
            <a:pPr lvl="1"/>
            <a:r>
              <a:rPr lang="en-US" sz="2000" dirty="0"/>
              <a:t>Compared to other classical algorithms (DFS, BFS, Dijkstra), A* provides a </a:t>
            </a:r>
            <a:r>
              <a:rPr lang="en-US" sz="2000" b="1" dirty="0"/>
              <a:t>balance of speed and accuracy</a:t>
            </a:r>
            <a:r>
              <a:rPr lang="en-US" sz="2000" dirty="0"/>
              <a:t>.</a:t>
            </a:r>
            <a:r>
              <a:rPr lang="en-GB" dirty="0"/>
              <a:t> 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B1F08-ACBA-74D4-21C7-1877C96B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D231F-4F31-F7C1-0756-E5AB66863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BF234-03FB-99B7-1FAD-E73A077F6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lvl="0"/>
            <a:endParaRPr lang="en-US" sz="2000" b="1" dirty="0"/>
          </a:p>
          <a:p>
            <a:pPr lvl="0"/>
            <a:r>
              <a:rPr lang="en-US" sz="2000" b="1" dirty="0"/>
              <a:t>Future enhancements</a:t>
            </a:r>
            <a:endParaRPr lang="en-US" sz="2000" dirty="0"/>
          </a:p>
          <a:p>
            <a:pPr lvl="1"/>
            <a:r>
              <a:rPr lang="en-US" sz="2000" dirty="0"/>
              <a:t>Add </a:t>
            </a:r>
            <a:r>
              <a:rPr lang="en-US" sz="2000" b="1" dirty="0"/>
              <a:t>diagonal movements</a:t>
            </a:r>
            <a:r>
              <a:rPr lang="en-US" sz="2000" dirty="0"/>
              <a:t> to make pathfinding more flexible and realistic.</a:t>
            </a:r>
          </a:p>
          <a:p>
            <a:pPr lvl="1"/>
            <a:r>
              <a:rPr lang="en-US" sz="2000" dirty="0"/>
              <a:t>Extend the system to handle </a:t>
            </a:r>
            <a:r>
              <a:rPr lang="en-US" sz="2000" b="1" dirty="0"/>
              <a:t>3D or larger mazes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Integrate </a:t>
            </a:r>
            <a:r>
              <a:rPr lang="en-US" sz="2000" b="1" dirty="0"/>
              <a:t>dynamic obstacle detection</a:t>
            </a:r>
            <a:r>
              <a:rPr lang="en-US" sz="2000" dirty="0"/>
              <a:t>, where the maze changes during execution.</a:t>
            </a:r>
          </a:p>
          <a:p>
            <a:pPr lvl="1"/>
            <a:r>
              <a:rPr lang="en-US" sz="2000" dirty="0"/>
              <a:t>Combine A* with </a:t>
            </a:r>
            <a:r>
              <a:rPr lang="en-US" sz="2000" b="1" dirty="0"/>
              <a:t>Reinforcement Learning (Q-Learning)</a:t>
            </a:r>
            <a:r>
              <a:rPr lang="en-US" sz="2000" dirty="0"/>
              <a:t> for adaptive and self-improving navigation.</a:t>
            </a:r>
          </a:p>
          <a:p>
            <a:pPr lvl="1"/>
            <a:r>
              <a:rPr lang="en-US" sz="2000" dirty="0"/>
              <a:t>Develop a </a:t>
            </a:r>
            <a:r>
              <a:rPr lang="en-US" sz="2000" b="1" dirty="0"/>
              <a:t>robot navigation simulator</a:t>
            </a:r>
            <a:r>
              <a:rPr lang="en-US" sz="2000" dirty="0"/>
              <a:t> using the same logic for real-world applications.</a:t>
            </a:r>
          </a:p>
          <a:p>
            <a:pPr lvl="1"/>
            <a:r>
              <a:rPr lang="en-US" sz="2000" dirty="0"/>
              <a:t>Implement </a:t>
            </a:r>
            <a:r>
              <a:rPr lang="en-US" sz="2000" b="1" dirty="0"/>
              <a:t>weighted paths</a:t>
            </a:r>
            <a:r>
              <a:rPr lang="en-US" sz="2000" dirty="0"/>
              <a:t> to simulate different terrain costs (e.g., easy vs. difficult areas).</a:t>
            </a:r>
          </a:p>
          <a:p>
            <a:pPr lvl="0"/>
            <a:endParaRPr lang="en-GB" sz="2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B2E9B-C1CA-3A86-8D9B-E24009B63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22F1A-313A-2BA7-A778-DA35C0DF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87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2200" b="1" dirty="0"/>
              <a:t>Stuart Russell &amp; Peter Norvig (2020).</a:t>
            </a:r>
            <a:r>
              <a:rPr lang="en-US" sz="2200" dirty="0"/>
              <a:t> </a:t>
            </a:r>
            <a:r>
              <a:rPr lang="en-US" sz="2200" i="1" dirty="0"/>
              <a:t>Artificial Intelligence: A Modern Approach</a:t>
            </a:r>
            <a:r>
              <a:rPr lang="en-US" sz="2200" dirty="0"/>
              <a:t> (4th Edition).</a:t>
            </a:r>
            <a:br>
              <a:rPr lang="en-US" sz="2200" dirty="0"/>
            </a:br>
            <a:r>
              <a:rPr lang="en-US" sz="2200" dirty="0">
                <a:hlinkClick r:id="rId2"/>
              </a:rPr>
              <a:t>https://aima.cs.berkeley.edu/</a:t>
            </a:r>
            <a:endParaRPr lang="en-US" sz="2200" dirty="0"/>
          </a:p>
          <a:p>
            <a:pPr lvl="0"/>
            <a:r>
              <a:rPr lang="en-US" sz="2200" i="1" dirty="0" err="1"/>
              <a:t>TutorialsPoint</a:t>
            </a:r>
            <a:r>
              <a:rPr lang="en-US" sz="2200" i="1" dirty="0"/>
              <a:t> – A Algorithm in AI</a:t>
            </a:r>
            <a:r>
              <a:rPr lang="en-US" sz="2200" dirty="0"/>
              <a:t>*</a:t>
            </a:r>
            <a:br>
              <a:rPr lang="en-US" sz="2200" dirty="0"/>
            </a:br>
            <a:r>
              <a:rPr lang="en-US" sz="2200" dirty="0">
                <a:hlinkClick r:id="rId3"/>
              </a:rPr>
              <a:t>https://www.tutorialspoint.com/artificial_intelligence/artificial_intelligence_a_star_algorithm.html</a:t>
            </a:r>
            <a:endParaRPr lang="en-US" sz="2200" dirty="0"/>
          </a:p>
          <a:p>
            <a:pPr lvl="0"/>
            <a:r>
              <a:rPr lang="en-US" sz="2200" i="1" dirty="0" err="1"/>
              <a:t>GeeksforGeeks</a:t>
            </a:r>
            <a:r>
              <a:rPr lang="en-US" sz="2200" i="1" dirty="0"/>
              <a:t> – A Search Algorithm in Python</a:t>
            </a:r>
            <a:r>
              <a:rPr lang="en-US" sz="2200" dirty="0"/>
              <a:t>*</a:t>
            </a:r>
            <a:br>
              <a:rPr lang="en-US" sz="2200" dirty="0"/>
            </a:br>
            <a:r>
              <a:rPr lang="en-US" sz="2200" dirty="0">
                <a:hlinkClick r:id="rId4"/>
              </a:rPr>
              <a:t>https://www.geeksforgeeks.org/a-search-algorithm/</a:t>
            </a:r>
            <a:endParaRPr lang="en-US" sz="2200" dirty="0"/>
          </a:p>
          <a:p>
            <a:pPr lvl="0"/>
            <a:r>
              <a:rPr lang="en-US" sz="2200" b="1" dirty="0"/>
              <a:t>Towards Data Science – Understanding A* Pathfinding Algorithm</a:t>
            </a:r>
            <a:br>
              <a:rPr lang="en-US" sz="2200" dirty="0"/>
            </a:br>
            <a:r>
              <a:rPr lang="en-US" sz="2200" dirty="0">
                <a:hlinkClick r:id="rId5"/>
              </a:rPr>
              <a:t>https://towardsdatascience.com/a-star-a-search-algorithm-eb495fb156bb</a:t>
            </a:r>
            <a:endParaRPr lang="en-US" sz="2200" dirty="0"/>
          </a:p>
          <a:p>
            <a:pPr lvl="0"/>
            <a:r>
              <a:rPr lang="en-US" sz="2200" b="1" dirty="0"/>
              <a:t>Python Official Documentation – Matplotlib Animation</a:t>
            </a:r>
            <a:br>
              <a:rPr lang="en-US" sz="2200" dirty="0"/>
            </a:br>
            <a:r>
              <a:rPr lang="en-US" sz="2200" dirty="0">
                <a:hlinkClick r:id="rId6"/>
              </a:rPr>
              <a:t>https://matplotlib.org/stable/api/animation_api.html</a:t>
            </a:r>
            <a:endParaRPr lang="en-US" sz="2200" dirty="0"/>
          </a:p>
          <a:p>
            <a:pPr lvl="0"/>
            <a:r>
              <a:rPr lang="en-US" sz="2200" b="1" dirty="0"/>
              <a:t>Python Official Documentation – Heap Queue (</a:t>
            </a:r>
            <a:r>
              <a:rPr lang="en-US" sz="2200" b="1" dirty="0" err="1"/>
              <a:t>heapq</a:t>
            </a:r>
            <a:r>
              <a:rPr lang="en-US" sz="2200" b="1" dirty="0"/>
              <a:t>) Module</a:t>
            </a:r>
            <a:br>
              <a:rPr lang="en-US" sz="2200" dirty="0"/>
            </a:br>
            <a:r>
              <a:rPr lang="en-US" sz="2200" dirty="0">
                <a:hlinkClick r:id="rId7"/>
              </a:rPr>
              <a:t>https://docs.python.org/3/library/heapq.html</a:t>
            </a:r>
            <a:endParaRPr lang="en-US" sz="2200" dirty="0"/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1114</Words>
  <Application>Microsoft Office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Office Theme</vt:lpstr>
      <vt:lpstr>DEPARTMENT OF CSE (ARTIFICIAL INTELLIGENCE AND MACHINE LEARNING) ACADEMIC YEAR 2025 - 2026 SEMESTER III ARTIFICIAL INTELLIGENCE LABORATORY  MINI PROJECT REVIEW   MAZE SOLVING USING A* ALGORITHM</vt:lpstr>
      <vt:lpstr>PROBLEM STATEMENT</vt:lpstr>
      <vt:lpstr>THEORETICAL BACKGROUND</vt:lpstr>
      <vt:lpstr>THEORETICAL BACKGROUND</vt:lpstr>
      <vt:lpstr>IMPLEMENTATION AND CODE</vt:lpstr>
      <vt:lpstr>OUTPUT AND RESULTS</vt:lpstr>
      <vt:lpstr>OUTPUT AND RESULTS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K Harini</cp:lastModifiedBy>
  <cp:revision>5</cp:revision>
  <dcterms:created xsi:type="dcterms:W3CDTF">2025-10-18T08:57:34Z</dcterms:created>
  <dcterms:modified xsi:type="dcterms:W3CDTF">2025-10-20T17:58:52Z</dcterms:modified>
</cp:coreProperties>
</file>